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98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Vector Search: Unnecessary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CF0F1"/>
                </a:solidFill>
              </a:defRPr>
            </a:pPr>
            <a:r>
              <a:t>Why BM25 + Agentic Search Wins for B2B Enterprise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27AE60"/>
                </a:solidFill>
              </a:defRPr>
            </a:pPr>
            <a:r>
              <a:t>Recommendation: Use BM25-Only Search</a:t>
            </a:r>
          </a:p>
          <a:p>
            <a:pPr>
              <a:spcAft>
                <a:spcPts val="1200"/>
              </a:spcAft>
              <a:defRPr sz="1800"/>
            </a:pPr>
            <a:r>
              <a:t>Vector/semantic search provides ZERO measurable quality improvement over BM25 for technical documentation, while adding:</a:t>
            </a:r>
          </a:p>
          <a:p>
            <a:pPr>
              <a:defRPr sz="2000">
                <a:solidFill>
                  <a:srgbClr val="E74C3C"/>
                </a:solidFill>
              </a:defRPr>
            </a:pPr>
            <a:r>
              <a:t>✗ Higher costs (vs. free)</a:t>
            </a:r>
          </a:p>
          <a:p>
            <a:pPr>
              <a:defRPr sz="2000">
                <a:solidFill>
                  <a:srgbClr val="E74C3C"/>
                </a:solidFill>
              </a:defRPr>
            </a:pPr>
            <a:r>
              <a:t>✗ 50-130x worse latency</a:t>
            </a:r>
          </a:p>
          <a:p>
            <a:pPr>
              <a:defRPr sz="2000">
                <a:solidFill>
                  <a:srgbClr val="E74C3C"/>
                </a:solidFill>
              </a:defRPr>
            </a:pPr>
            <a:r>
              <a:t>✗ External API dependencies</a:t>
            </a:r>
          </a:p>
          <a:p>
            <a:pPr>
              <a:defRPr sz="2000">
                <a:solidFill>
                  <a:srgbClr val="E74C3C"/>
                </a:solidFill>
              </a:defRPr>
            </a:pPr>
            <a:r>
              <a:t>✗ Operational complexity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Test: Identical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/>
            </a:pPr>
            <a:r>
              <a:t>Query: "Describe differences between Windows and Linux TCP/IP stacks"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468880"/>
            <a:ext cx="3474720" cy="2743200"/>
          </a:xfrm>
          <a:prstGeom prst="rect">
            <a:avLst/>
          </a:prstGeom>
          <a:solidFill>
            <a:srgbClr val="D4EDDA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2400" b="1"/>
            </a:pPr>
            <a:r>
              <a:t>BM25-Only</a:t>
            </a:r>
          </a:p>
          <a:p>
            <a:pPr>
              <a:defRPr sz="1800">
                <a:solidFill>
                  <a:srgbClr val="27AE60"/>
                </a:solidFill>
              </a:defRPr>
            </a:pPr>
            <a:r>
              <a:t>✓ Top result: Correct</a:t>
            </a:r>
          </a:p>
          <a:p>
            <a:pPr>
              <a:defRPr sz="1800"/>
            </a:pPr>
            <a:r>
              <a:t>Latency: &lt;10ms</a:t>
            </a:r>
          </a:p>
          <a:p>
            <a:pPr>
              <a:defRPr sz="1800"/>
            </a:pPr>
            <a:r>
              <a:t>Cost: $0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2468880"/>
            <a:ext cx="3474720" cy="2743200"/>
          </a:xfrm>
          <a:prstGeom prst="rect">
            <a:avLst/>
          </a:prstGeom>
          <a:solidFill>
            <a:srgbClr val="F8D7DA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sz="2400" b="1"/>
            </a:pPr>
            <a:r>
              <a:t>Vector Hybrid</a:t>
            </a:r>
          </a:p>
          <a:p>
            <a:pPr>
              <a:defRPr sz="1800">
                <a:solidFill>
                  <a:srgbClr val="27AE60"/>
                </a:solidFill>
              </a:defRPr>
            </a:pPr>
            <a:r>
              <a:t>✓ Same answer</a:t>
            </a:r>
          </a:p>
          <a:p>
            <a:pPr>
              <a:defRPr sz="1800">
                <a:solidFill>
                  <a:srgbClr val="E74C3C"/>
                </a:solidFill>
              </a:defRPr>
            </a:pPr>
            <a:r>
              <a:t>Latency: 500-1,300ms</a:t>
            </a:r>
          </a:p>
          <a:p>
            <a:pPr>
              <a:defRPr sz="1800">
                <a:solidFill>
                  <a:srgbClr val="E74C3C"/>
                </a:solidFill>
              </a:defRPr>
            </a:pPr>
            <a:r>
              <a:t>Cost: $2/year +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Breakdown: What Vector Search Actually Costs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Cost Component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BM25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Vector Hybrid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Initial Indexing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7AE60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74C3C"/>
                          </a:solidFill>
                        </a:defRPr>
                      </a:pPr>
                      <a:r>
                        <a:t>$0.013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Per Query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7AE60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74C3C"/>
                          </a:solidFill>
                        </a:defRPr>
                      </a:pPr>
                      <a:r>
                        <a:t>$0.000002-0.000006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Annual Cost (1K queries/day)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7AE60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74C3C"/>
                          </a:solidFill>
                        </a:defRPr>
                      </a:pPr>
                      <a:r>
                        <a:t>~$2/year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Query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7AE60"/>
                          </a:solidFill>
                        </a:defRPr>
                      </a:pPr>
                      <a:r>
                        <a:t>&lt;10ms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74C3C"/>
                          </a:solidFill>
                        </a:defRPr>
                      </a:pPr>
                      <a:r>
                        <a:t>500-1,300ms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7AE60"/>
                          </a:solidFill>
                        </a:defRPr>
                      </a:pPr>
                      <a:r>
                        <a:t>267KB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E74C3C"/>
                          </a:solidFill>
                        </a:defRPr>
                      </a:pPr>
                      <a:r>
                        <a:t>13MB + 267KB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Agentic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/>
            </a:pPr>
            <a:r>
              <a:t>Traditional Search: </a:t>
            </a:r>
            <a:r>
              <a:rPr b="0"/>
              <a:t>End-user types query → System searches → Results</a:t>
            </a:r>
          </a:p>
          <a:p>
            <a:pPr>
              <a:spcAft>
                <a:spcPts val="2000"/>
              </a:spcAft>
              <a:defRPr sz="1800" b="1"/>
            </a:pPr>
            <a:r>
              <a:t>Agentic Search: </a:t>
            </a:r>
            <a:r>
              <a:rPr b="0"/>
              <a:t>User asks LLM → </a:t>
            </a:r>
            <a:r>
              <a:rPr b="1">
                <a:solidFill>
                  <a:srgbClr val="3498DB"/>
                </a:solidFill>
              </a:rPr>
              <a:t>LLM formulates optimized search queries</a:t>
            </a:r>
            <a:r>
              <a:rPr b="0"/>
              <a:t> → System searches → LLM synthesizes answer</a:t>
            </a:r>
          </a:p>
          <a:p>
            <a:pPr>
              <a:spcAft>
                <a:spcPts val="800"/>
              </a:spcAft>
              <a:defRPr sz="2400" b="1">
                <a:solidFill>
                  <a:srgbClr val="3498DB"/>
                </a:solidFill>
              </a:defRPr>
            </a:pPr>
            <a:r>
              <a:t>The Key Insight</a:t>
            </a:r>
          </a:p>
          <a:p>
            <a:pPr>
              <a:spcAft>
                <a:spcPts val="1200"/>
              </a:spcAft>
              <a:defRPr sz="2000" b="1"/>
            </a:pPr>
            <a:r>
              <a:t>The LLM already performs semantic-to-keyword translation!</a:t>
            </a:r>
          </a:p>
          <a:p>
            <a:pPr>
              <a:defRPr sz="1600" i="1"/>
            </a:pPr>
            <a:r>
              <a:t>User: "How do Windows and Linux handle TCP/IP differently?"</a:t>
            </a:r>
          </a:p>
          <a:p>
            <a:pPr>
              <a:spcAft>
                <a:spcPts val="1200"/>
              </a:spcAft>
              <a:defRPr sz="1600" b="1">
                <a:solidFill>
                  <a:srgbClr val="27AE60"/>
                </a:solidFill>
              </a:defRPr>
            </a:pPr>
            <a:r>
              <a:t>LLM: "Windows Linux TCP socket differences Winsock closesocket fork CreateProcess"</a:t>
            </a:r>
          </a:p>
          <a:p>
            <a:pPr>
              <a:defRPr sz="1800" b="1">
                <a:solidFill>
                  <a:srgbClr val="E74C3C"/>
                </a:solidFill>
              </a:defRPr>
            </a:pPr>
            <a:r>
              <a:t>This is already the perfect BM25 query. Vector search adds nothing.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LLMs Make Vector Search Redundant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/>
            </a:pPr>
            <a:r>
              <a:t>What LLMs Do Automatically:</a:t>
            </a:r>
          </a:p>
          <a:p>
            <a:pPr>
              <a:spcAft>
                <a:spcPts val="600"/>
              </a:spcAft>
              <a:defRPr sz="1800"/>
            </a:pPr>
            <a:r>
              <a:t>✓ Keyword extraction - Identify salient technical terms</a:t>
            </a:r>
          </a:p>
          <a:p>
            <a:pPr>
              <a:spcAft>
                <a:spcPts val="600"/>
              </a:spcAft>
              <a:defRPr sz="1800"/>
            </a:pPr>
            <a:r>
              <a:t>✓ Terminology precision - Use exact API names, not paraphrases</a:t>
            </a:r>
          </a:p>
          <a:p>
            <a:pPr>
              <a:spcAft>
                <a:spcPts val="600"/>
              </a:spcAft>
              <a:defRPr sz="1800"/>
            </a:pPr>
            <a:r>
              <a:t>✓ Query reformulation - Retry with different terms if needed</a:t>
            </a:r>
          </a:p>
          <a:p>
            <a:pPr>
              <a:spcAft>
                <a:spcPts val="600"/>
              </a:spcAft>
              <a:defRPr sz="1800"/>
            </a:pPr>
            <a:r>
              <a:t>✓ Multi-query strategies - Issue parallel queries from different angles</a:t>
            </a:r>
          </a:p>
          <a:p>
            <a:pPr>
              <a:spcAft>
                <a:spcPts val="1200"/>
              </a:spcAft>
            </a:pPr>
          </a:p>
          <a:p>
            <a:pPr>
              <a:defRPr sz="1800" b="1"/>
            </a:pPr>
            <a:r>
              <a:t>Vector search bridges semantic gaps:</a:t>
            </a:r>
          </a:p>
          <a:p>
            <a:pPr>
              <a:defRPr sz="1600" i="1"/>
            </a:pPr>
            <a:r>
              <a:t>"car repair" → "automotive maintenance"</a:t>
            </a:r>
          </a:p>
          <a:p>
            <a:pPr>
              <a:defRPr sz="1800" b="1">
                <a:solidFill>
                  <a:srgbClr val="E74C3C"/>
                </a:solidFill>
              </a:defRPr>
            </a:pPr>
            <a:r>
              <a:t>BUT: With LLM agents, the LLM already bridges these gaps before calling search!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BM25 Dominates for Technical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 b="1"/>
            </a:pPr>
            <a:r>
              <a:t>1. Precise Terminology Matching</a:t>
            </a:r>
          </a:p>
          <a:p>
            <a:pPr>
              <a:spcAft>
                <a:spcPts val="600"/>
              </a:spcAft>
              <a:defRPr sz="1600"/>
            </a:pPr>
            <a:r>
              <a:t>Technical docs use exact terms: Winsock, closesocket, WSAStartup, fork(), POSIX</a:t>
            </a:r>
          </a:p>
          <a:p>
            <a:pPr>
              <a:spcAft>
                <a:spcPts val="1600"/>
              </a:spcAft>
              <a:defRPr sz="1600" b="1"/>
            </a:pPr>
            <a:r>
              <a:t>These are not synonyms - they're literal API names</a:t>
            </a:r>
          </a:p>
          <a:p>
            <a:pPr>
              <a:spcAft>
                <a:spcPts val="800"/>
              </a:spcAft>
              <a:defRPr sz="2200" b="1"/>
            </a:pPr>
            <a:r>
              <a:t>2. No Semantic Ambiguity</a:t>
            </a:r>
          </a:p>
          <a:p>
            <a:pPr>
              <a:defRPr sz="1600"/>
            </a:pPr>
            <a:r>
              <a:t>• fork() doesn't mean 'split' - it's a system call</a:t>
            </a:r>
          </a:p>
          <a:p>
            <a:pPr>
              <a:defRPr sz="1600"/>
            </a:pPr>
            <a:r>
              <a:t>• socket has one technical meaning</a:t>
            </a:r>
          </a:p>
          <a:p>
            <a:pPr>
              <a:defRPr sz="1600"/>
            </a:pPr>
            <a:r>
              <a:t>• Precision matters more than semantic similarity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Head-to-Head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164592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BM25-Only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Hybrid (BM25+Vector)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Top-1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✓ Correct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✓ Correct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Tie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Top-5 Relevance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Tie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Query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&lt;10ms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500-1300ms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AE60"/>
                          </a:solidFill>
                        </a:defRPr>
                      </a:pPr>
                      <a:r>
                        <a:t>BM25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Cost per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~$0.000006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AE60"/>
                          </a:solidFill>
                        </a:defRPr>
                      </a:pPr>
                      <a:r>
                        <a:t>BM25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AE60"/>
                          </a:solidFill>
                        </a:defRPr>
                      </a:pPr>
                      <a:r>
                        <a:t>BM25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Failure Modes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Disk I/O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Disk I/O +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7AE60"/>
                          </a:solidFill>
                        </a:defRPr>
                      </a:pPr>
                      <a:r>
                        <a:t>BM25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Vector Search Actually Adds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Vector search provides benefits when:</a:t>
            </a:r>
          </a:p>
          <a:p>
            <a:pPr>
              <a:defRPr sz="1600"/>
            </a:pPr>
            <a:r>
              <a:t>✓ Natural language from end-users (not LLM-mediated)</a:t>
            </a:r>
          </a:p>
          <a:p>
            <a:pPr>
              <a:defRPr sz="1600"/>
            </a:pPr>
            <a:r>
              <a:t>✓ Inconsistent terminology across documents</a:t>
            </a:r>
          </a:p>
          <a:p>
            <a:pPr>
              <a:defRPr sz="1600"/>
            </a:pPr>
            <a:r>
              <a:t>✓ Cross-lingual search requirements</a:t>
            </a:r>
          </a:p>
          <a:p>
            <a:pPr>
              <a:defRPr sz="1600"/>
            </a:pPr>
            <a:r>
              <a:t>✓ Conceptual similarity over keyword matching</a:t>
            </a:r>
          </a:p>
          <a:p>
            <a:pPr>
              <a:defRPr sz="1600"/>
            </a:pPr>
            <a:r>
              <a:t>✓ Large, diverse corpus (1000s+ documents with varied terminology)</a:t>
            </a:r>
          </a:p>
          <a:p>
            <a:pPr>
              <a:spcAft>
                <a:spcPts val="2000"/>
              </a:spcAft>
            </a:pPr>
          </a:p>
          <a:p>
            <a:pPr>
              <a:defRPr sz="2000" b="1">
                <a:solidFill>
                  <a:srgbClr val="E74C3C"/>
                </a:solidFill>
              </a:defRPr>
            </a:pPr>
            <a:r>
              <a:t>None of these apply to agentic search over technical reference documentation.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The 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3498DB"/>
                </a:solidFill>
              </a:defRPr>
            </a:pPr>
            <a:r>
              <a:t>∞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BM25 delivers equivalent quality at zero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572000"/>
            <a:ext cx="6400800" cy="1371600"/>
          </a:xfrm>
          <a:prstGeom prst="rect">
            <a:avLst/>
          </a:prstGeom>
          <a:solidFill>
            <a:srgbClr val="D4EDDA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1800" b="1"/>
            </a:pPr>
            <a:r>
              <a:t>For Agentic Search Over Technical Documentation:</a:t>
            </a:r>
          </a:p>
          <a:p>
            <a:pPr algn="ctr">
              <a:defRPr sz="2200" b="1">
                <a:solidFill>
                  <a:srgbClr val="E74C3C"/>
                </a:solidFill>
              </a:defRPr>
            </a:pPr>
            <a:r>
              <a:t>Vector search is an unnecessary cost that provides zero value.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27AE60"/>
                </a:solidFill>
              </a:defRPr>
            </a:pPr>
            <a:r>
              <a:t>Immediate Actions:</a:t>
            </a:r>
          </a:p>
          <a:p>
            <a:pPr>
              <a:defRPr sz="1800"/>
            </a:pPr>
            <a:r>
              <a:t>1. Deploy BM25-only search for the MCP server</a:t>
            </a:r>
          </a:p>
          <a:p>
            <a:pPr>
              <a:defRPr sz="1800"/>
            </a:pPr>
            <a:r>
              <a:t>2. Monitor query performance metrics</a:t>
            </a:r>
          </a:p>
          <a:p>
            <a:pPr lvl="1">
              <a:defRPr sz="1600"/>
            </a:pPr>
            <a:r>
              <a:t>• Query success rate</a:t>
            </a:r>
          </a:p>
          <a:p>
            <a:pPr lvl="1">
              <a:defRPr sz="1600"/>
            </a:pPr>
            <a:r>
              <a:t>• Result relevance (spot-checks)</a:t>
            </a:r>
          </a:p>
          <a:p>
            <a:pPr lvl="1">
              <a:defRPr sz="1600"/>
            </a:pPr>
            <a:r>
              <a:t>• Failed queries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1200"/>
              </a:spcAft>
              <a:defRPr sz="2400" b="1"/>
            </a:pPr>
            <a:r>
              <a:t>Reconsider If/When:</a:t>
            </a:r>
          </a:p>
          <a:p>
            <a:pPr>
              <a:defRPr sz="1600"/>
            </a:pPr>
            <a:r>
              <a:t>• &gt;5% query failure rate on relevant content</a:t>
            </a:r>
          </a:p>
          <a:p>
            <a:pPr>
              <a:defRPr sz="1600"/>
            </a:pPr>
            <a:r>
              <a:t>• User queries use synonyms not in documentation</a:t>
            </a:r>
          </a:p>
          <a:p>
            <a:pPr>
              <a:defRPr sz="1600"/>
            </a:pPr>
            <a:r>
              <a:t>• Corpus grows to 1000+ documents with varied terminology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2000">
                <a:solidFill>
                  <a:srgbClr val="ECF0F1"/>
                </a:solidFill>
              </a:defRPr>
            </a:pPr>
            <a:r>
              <a:t>Key Takeaway:</a:t>
            </a:r>
          </a:p>
          <a:p>
            <a:pPr algn="ctr">
              <a:spcAft>
                <a:spcPts val="800"/>
              </a:spcAft>
              <a:defRPr sz="2600">
                <a:solidFill>
                  <a:srgbClr val="27AE60"/>
                </a:solidFill>
              </a:defRPr>
            </a:pPr>
            <a:r>
              <a:t>BM25 + LLM Agents = Free, Fast, and Effective</a:t>
            </a:r>
          </a:p>
          <a:p>
            <a:pPr algn="ctr">
              <a:defRPr sz="2600">
                <a:solidFill>
                  <a:srgbClr val="E74C3C"/>
                </a:solidFill>
              </a:defRPr>
            </a:pPr>
            <a:r>
              <a:t>Vector Search = Expensive, Slow, and Redundant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